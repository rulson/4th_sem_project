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9" r:id="rId11"/>
    <p:sldId id="264" r:id="rId12"/>
    <p:sldId id="265" r:id="rId13"/>
    <p:sldId id="266" r:id="rId14"/>
    <p:sldId id="267" r:id="rId1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defaultTextStyle>
  <p:extLst>
    <p:ext uri="{EFAFB233-063F-42B5-8137-9DF3F51BA10A}">
      <p15:sldGuideLst xmlns:p15="http://schemas.microsoft.com/office/powerpoint/2012/main">
        <p15:guide id="1" orient="horz" pos="1591"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3" d="100"/>
          <a:sy n="103" d="100"/>
        </p:scale>
        <p:origin x="874" y="43"/>
      </p:cViewPr>
      <p:guideLst>
        <p:guide orient="horz" pos="1591"/>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L="914400" marR="0" lvl="1"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L="1371600" marR="0" lvl="2"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L="1828800" marR="0" lvl="3"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L="2286000" marR="0" lvl="4"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L="2743200" marR="0" lvl="5"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L="3200400" marR="0" lvl="6"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L="3657600" marR="0" lvl="7"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L="4114800" marR="0" lvl="8" indent="-298450" algn="l" rtl="0">
              <a:lnSpc>
                <a:spcPct val="100000"/>
              </a:lnSpc>
              <a:spcBef>
                <a:spcPts val="0"/>
              </a:spcBef>
              <a:spcAft>
                <a:spcPts val="0"/>
              </a:spcAft>
              <a:buClr>
                <a:srgbClr val="000000"/>
              </a:buClr>
              <a:buSzPts val="1100"/>
              <a:buFont typeface="Arial" panose="020B0704020202020204"/>
              <a:buChar char="■"/>
              <a:defRPr sz="11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8"/>
        <p:cNvGrpSpPr/>
        <p:nvPr/>
      </p:nvGrpSpPr>
      <p:grpSpPr>
        <a:xfrm>
          <a:off x="0" y="0"/>
          <a:ext cx="0" cy="0"/>
          <a:chOff x="0" y="0"/>
          <a:chExt cx="0" cy="0"/>
        </a:xfrm>
      </p:grpSpPr>
      <p:sp>
        <p:nvSpPr>
          <p:cNvPr id="59" name="Google Shape;5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6"/>
        <p:cNvGrpSpPr/>
        <p:nvPr/>
      </p:nvGrpSpPr>
      <p:grpSpPr>
        <a:xfrm>
          <a:off x="0" y="0"/>
          <a:ext cx="0" cy="0"/>
          <a:chOff x="0" y="0"/>
          <a:chExt cx="0" cy="0"/>
        </a:xfrm>
      </p:grpSpPr>
      <p:sp>
        <p:nvSpPr>
          <p:cNvPr id="67" name="Google Shape;6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4"/>
        <p:cNvGrpSpPr/>
        <p:nvPr/>
      </p:nvGrpSpPr>
      <p:grpSpPr>
        <a:xfrm>
          <a:off x="0" y="0"/>
          <a:ext cx="0" cy="0"/>
          <a:chOff x="0" y="0"/>
          <a:chExt cx="0" cy="0"/>
        </a:xfrm>
      </p:grpSpPr>
      <p:sp>
        <p:nvSpPr>
          <p:cNvPr id="75" name="Google Shape;75;g3dd3e3ad7c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g3dd3e3ad7c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
        <p:cNvGrpSpPr/>
        <p:nvPr/>
      </p:nvGrpSpPr>
      <p:grpSpPr>
        <a:xfrm>
          <a:off x="0" y="0"/>
          <a:ext cx="0" cy="0"/>
          <a:chOff x="0" y="0"/>
          <a:chExt cx="0" cy="0"/>
        </a:xfrm>
      </p:grpSpPr>
      <p:sp>
        <p:nvSpPr>
          <p:cNvPr id="83" name="Google Shape;83;g3dd3e3ad7c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dd3e3ad7c5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0"/>
        <p:cNvGrpSpPr/>
        <p:nvPr/>
      </p:nvGrpSpPr>
      <p:grpSpPr>
        <a:xfrm>
          <a:off x="0" y="0"/>
          <a:ext cx="0" cy="0"/>
          <a:chOff x="0" y="0"/>
          <a:chExt cx="0" cy="0"/>
        </a:xfrm>
      </p:grpSpPr>
      <p:sp>
        <p:nvSpPr>
          <p:cNvPr id="91" name="Google Shape;9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 name="Google Shape;9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1"/>
        <p:cNvGrpSpPr/>
        <p:nvPr/>
      </p:nvGrpSpPr>
      <p:grpSpPr>
        <a:xfrm>
          <a:off x="0" y="0"/>
          <a:ext cx="0" cy="0"/>
          <a:chOff x="0" y="0"/>
          <a:chExt cx="0" cy="0"/>
        </a:xfrm>
      </p:grpSpPr>
      <p:sp>
        <p:nvSpPr>
          <p:cNvPr id="132" name="Google Shape;132;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9"/>
        <p:cNvGrpSpPr/>
        <p:nvPr/>
      </p:nvGrpSpPr>
      <p:grpSpPr>
        <a:xfrm>
          <a:off x="0" y="0"/>
          <a:ext cx="0" cy="0"/>
          <a:chOff x="0" y="0"/>
          <a:chExt cx="0" cy="0"/>
        </a:xfrm>
      </p:grpSpPr>
      <p:sp>
        <p:nvSpPr>
          <p:cNvPr id="140" name="Google Shape;140;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3"/>
        <p:cNvGrpSpPr/>
        <p:nvPr/>
      </p:nvGrpSpPr>
      <p:grpSpPr>
        <a:xfrm>
          <a:off x="0" y="0"/>
          <a:ext cx="0" cy="0"/>
          <a:chOff x="0" y="0"/>
          <a:chExt cx="0" cy="0"/>
        </a:xfrm>
      </p:grpSpPr>
      <p:sp>
        <p:nvSpPr>
          <p:cNvPr id="14" name="Google Shape;14;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16" name="Google Shape;16;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3" name="Google Shape;23;p1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24" name="Google Shape;2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p:txBody>
      </p:sp>
      <p:sp>
        <p:nvSpPr>
          <p:cNvPr id="31" name="Google Shape;31;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2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704020202020204"/>
              <a:buNone/>
            </a:pPr>
            <a:endParaRPr sz="1400" b="0" i="0" u="none" strike="noStrike" cap="none">
              <a:solidFill>
                <a:srgbClr val="000000"/>
              </a:solidFill>
              <a:latin typeface="Arial" panose="020B0704020202020204"/>
              <a:ea typeface="Arial" panose="020B0704020202020204"/>
              <a:cs typeface="Arial" panose="020B0704020202020204"/>
              <a:sym typeface="Arial" panose="020B0704020202020204"/>
            </a:endParaRPr>
          </a:p>
        </p:txBody>
      </p:sp>
      <p:sp>
        <p:nvSpPr>
          <p:cNvPr id="37" name="Google Shape;37;p2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p:txBody>
      </p:sp>
      <p:sp>
        <p:nvSpPr>
          <p:cNvPr id="40" name="Google Shape;40;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p:txBody>
      </p:sp>
      <p:sp>
        <p:nvSpPr>
          <p:cNvPr id="43" name="Google Shape;43;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p:txBody>
      </p:sp>
      <p:sp>
        <p:nvSpPr>
          <p:cNvPr id="47" name="Google Shape;47;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chemeClr val="dk1"/>
              </a:buClr>
              <a:buSzPts val="2800"/>
              <a:buFont typeface="Arial" panose="020B0704020202020204"/>
              <a:buNone/>
              <a:defRPr sz="2800" b="0" i="0" u="none" strike="noStrike" cap="none">
                <a:solidFill>
                  <a:schemeClr val="dk1"/>
                </a:solidFill>
                <a:latin typeface="Arial" panose="020B0704020202020204"/>
                <a:ea typeface="Arial" panose="020B0704020202020204"/>
                <a:cs typeface="Arial" panose="020B0704020202020204"/>
                <a:sym typeface="Arial" panose="020B0704020202020204"/>
              </a:defRPr>
            </a:lvl9pPr>
          </a:lstStyle>
          <a:p/>
        </p:txBody>
      </p:sp>
      <p:sp>
        <p:nvSpPr>
          <p:cNvPr id="7" name="Google Shape;7;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panose="020B0704020202020204"/>
              <a:buChar char="●"/>
              <a:defRPr sz="18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914400" marR="0" lvl="1"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1371600" marR="0" lvl="2"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1828800" marR="0" lvl="3"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2286000" marR="0" lvl="4"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2743200" marR="0" lvl="5"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3200400" marR="0" lvl="6"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3657600" marR="0" lvl="7"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4114800" marR="0" lvl="8" indent="-317500" algn="l" rtl="0">
              <a:lnSpc>
                <a:spcPct val="115000"/>
              </a:lnSpc>
              <a:spcBef>
                <a:spcPts val="0"/>
              </a:spcBef>
              <a:spcAft>
                <a:spcPts val="0"/>
              </a:spcAft>
              <a:buClr>
                <a:schemeClr val="dk2"/>
              </a:buClr>
              <a:buSzPts val="1400"/>
              <a:buFont typeface="Arial" panose="020B0704020202020204"/>
              <a:buChar char="■"/>
              <a:defRPr sz="14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p:txBody>
      </p:sp>
      <p:sp>
        <p:nvSpPr>
          <p:cNvPr id="8" name="Google Shape;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1pPr>
            <a:lvl2pPr marL="0" marR="0" lvl="1"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2pPr>
            <a:lvl3pPr marL="0" marR="0" lvl="2"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3pPr>
            <a:lvl4pPr marL="0" marR="0" lvl="3"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4pPr>
            <a:lvl5pPr marL="0" marR="0" lvl="4"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5pPr>
            <a:lvl6pPr marL="0" marR="0" lvl="5"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6pPr>
            <a:lvl7pPr marL="0" marR="0" lvl="6"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7pPr>
            <a:lvl8pPr marL="0" marR="0" lvl="7"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8pPr>
            <a:lvl9pPr marL="0" marR="0" lvl="8" indent="0" algn="r" rtl="0">
              <a:lnSpc>
                <a:spcPct val="100000"/>
              </a:lnSpc>
              <a:spcBef>
                <a:spcPts val="0"/>
              </a:spcBef>
              <a:spcAft>
                <a:spcPts val="0"/>
              </a:spcAft>
              <a:buClr>
                <a:srgbClr val="000000"/>
              </a:buClr>
              <a:buSzPts val="1000"/>
              <a:buFont typeface="Arial" panose="020B0704020202020204"/>
              <a:buNone/>
              <a:defRPr sz="1000" b="0" i="0" u="none" strike="noStrike" cap="none">
                <a:solidFill>
                  <a:schemeClr val="dk2"/>
                </a:solidFill>
                <a:latin typeface="Arial" panose="020B0704020202020204"/>
                <a:ea typeface="Arial" panose="020B0704020202020204"/>
                <a:cs typeface="Arial" panose="020B0704020202020204"/>
                <a:sym typeface="Arial" panose="020B0704020202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1pPr>
      <a:lvl2pPr marR="0" lvl="1"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2pPr>
      <a:lvl3pPr marR="0" lvl="2"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3pPr>
      <a:lvl4pPr marR="0" lvl="3"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4pPr>
      <a:lvl5pPr marR="0" lvl="4"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5pPr>
      <a:lvl6pPr marR="0" lvl="5"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6pPr>
      <a:lvl7pPr marR="0" lvl="6"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7pPr>
      <a:lvl8pPr marR="0" lvl="7"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8pPr>
      <a:lvl9pPr marR="0" lvl="8" algn="l" rtl="0">
        <a:lnSpc>
          <a:spcPct val="100000"/>
        </a:lnSpc>
        <a:spcBef>
          <a:spcPts val="0"/>
        </a:spcBef>
        <a:spcAft>
          <a:spcPts val="0"/>
        </a:spcAft>
        <a:buClr>
          <a:srgbClr val="000000"/>
        </a:buClr>
        <a:buFont typeface="Arial" panose="020B0704020202020204"/>
        <a:defRPr sz="1400" b="0" i="0" u="none" strike="noStrike" cap="none">
          <a:solidFill>
            <a:srgbClr val="000000"/>
          </a:solidFill>
          <a:latin typeface="Arial" panose="020B0704020202020204"/>
          <a:ea typeface="Arial" panose="020B0704020202020204"/>
          <a:cs typeface="Arial" panose="020B0704020202020204"/>
          <a:sym typeface="Arial" panose="020B07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1"/>
          <a:srcRect/>
          <a:stretch>
            <a:fillRect/>
          </a:stretch>
        </p:blipFill>
        <p:spPr>
          <a:xfrm>
            <a:off x="3166250" y="61425"/>
            <a:ext cx="3062425" cy="1753650"/>
          </a:xfrm>
          <a:prstGeom prst="rect">
            <a:avLst/>
          </a:prstGeom>
          <a:noFill/>
          <a:ln>
            <a:noFill/>
          </a:ln>
        </p:spPr>
      </p:pic>
      <p:sp>
        <p:nvSpPr>
          <p:cNvPr id="55" name="Google Shape;55;p1"/>
          <p:cNvSpPr txBox="1"/>
          <p:nvPr/>
        </p:nvSpPr>
        <p:spPr>
          <a:xfrm>
            <a:off x="1076025" y="1912400"/>
            <a:ext cx="7487100" cy="6132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rgbClr val="000000"/>
              </a:buClr>
              <a:buSzPts val="2800"/>
              <a:buFont typeface="Arial" panose="020B0704020202020204"/>
              <a:buNone/>
            </a:pPr>
            <a:r>
              <a:rPr lang="en-GB" sz="2800" b="1" i="0" u="none" strike="noStrike" cap="none" dirty="0">
                <a:solidFill>
                  <a:srgbClr val="FFFFFF"/>
                </a:solidFill>
                <a:latin typeface="Arial" panose="020B0704020202020204"/>
                <a:ea typeface="Arial" panose="020B0704020202020204"/>
                <a:cs typeface="Arial" panose="020B0704020202020204"/>
                <a:sym typeface="Arial" panose="020B0704020202020204"/>
              </a:rPr>
              <a:t>“</a:t>
            </a:r>
            <a:r>
              <a:rPr lang="en-US" altLang="en-GB" sz="2800" b="1" i="0" u="none" strike="noStrike" cap="none" dirty="0">
                <a:solidFill>
                  <a:srgbClr val="FFFFFF"/>
                </a:solidFill>
                <a:latin typeface="Arial" panose="020B0704020202020204"/>
                <a:ea typeface="Arial" panose="020B0704020202020204"/>
                <a:cs typeface="Arial" panose="020B0704020202020204"/>
                <a:sym typeface="Arial" panose="020B0704020202020204"/>
              </a:rPr>
              <a:t>Remit Management System</a:t>
            </a:r>
            <a:r>
              <a:rPr lang="en-GB" sz="2800" b="1" i="0" u="none" strike="noStrike" cap="none" dirty="0">
                <a:solidFill>
                  <a:srgbClr val="FFFFFF"/>
                </a:solidFill>
                <a:latin typeface="Arial" panose="020B0704020202020204"/>
                <a:ea typeface="Arial" panose="020B0704020202020204"/>
                <a:cs typeface="Arial" panose="020B0704020202020204"/>
                <a:sym typeface="Arial" panose="020B0704020202020204"/>
              </a:rPr>
              <a:t>”</a:t>
            </a:r>
            <a:endParaRPr sz="2800" b="1" i="0" u="none" strike="noStrike" cap="none" dirty="0">
              <a:solidFill>
                <a:srgbClr val="FFFFFF"/>
              </a:solidFill>
              <a:latin typeface="Arial" panose="020B0704020202020204"/>
              <a:ea typeface="Arial" panose="020B0704020202020204"/>
              <a:cs typeface="Arial" panose="020B0704020202020204"/>
              <a:sym typeface="Arial" panose="020B0704020202020204"/>
            </a:endParaRPr>
          </a:p>
        </p:txBody>
      </p:sp>
      <p:sp>
        <p:nvSpPr>
          <p:cNvPr id="56" name="Google Shape;56;p1"/>
          <p:cNvSpPr txBox="1"/>
          <p:nvPr/>
        </p:nvSpPr>
        <p:spPr>
          <a:xfrm>
            <a:off x="3714750" y="3048000"/>
            <a:ext cx="1964690" cy="1104900"/>
          </a:xfrm>
          <a:prstGeom prst="rect">
            <a:avLst/>
          </a:prstGeom>
          <a:noFill/>
          <a:ln>
            <a:noFill/>
          </a:ln>
        </p:spPr>
        <p:txBody>
          <a:bodyPr spcFirstLastPara="1" wrap="square" lIns="91425" tIns="91425" rIns="91425" bIns="91425" anchor="t" anchorCtr="0">
            <a:normAutofit fontScale="50000"/>
          </a:bodyPr>
          <a:lstStyle/>
          <a:p>
            <a:pPr marL="0" marR="0" lvl="0" indent="0" algn="l" rtl="0">
              <a:lnSpc>
                <a:spcPct val="100000"/>
              </a:lnSpc>
              <a:spcBef>
                <a:spcPts val="0"/>
              </a:spcBef>
              <a:spcAft>
                <a:spcPts val="0"/>
              </a:spcAft>
              <a:buClr>
                <a:srgbClr val="000000"/>
              </a:buClr>
              <a:buSzPct val="100000"/>
              <a:buFont typeface="Arial" panose="020B0704020202020204"/>
              <a:buNone/>
            </a:pPr>
            <a:r>
              <a:rPr lang="en-GB" sz="2800" b="1" dirty="0"/>
              <a:t>   </a:t>
            </a:r>
            <a:r>
              <a:rPr lang="en-GB" sz="2800" b="1" i="0" u="none" strike="noStrike" cap="none" dirty="0">
                <a:solidFill>
                  <a:srgbClr val="000000"/>
                </a:solidFill>
                <a:latin typeface="Arial" panose="020B0704020202020204"/>
                <a:ea typeface="Arial" panose="020B0704020202020204"/>
                <a:cs typeface="Arial" panose="020B0704020202020204"/>
                <a:sym typeface="Arial" panose="020B0704020202020204"/>
              </a:rPr>
              <a:t>Project Member: </a:t>
            </a:r>
            <a:endParaRPr lang="en-GB" sz="2800" b="1" i="0" u="none" strike="noStrike" cap="none" dirty="0">
              <a:solidFill>
                <a:srgbClr val="000000"/>
              </a:solidFill>
              <a:latin typeface="Arial" panose="020B0704020202020204"/>
              <a:ea typeface="Arial" panose="020B0704020202020204"/>
              <a:cs typeface="Arial" panose="020B0704020202020204"/>
              <a:sym typeface="Arial" panose="020B0704020202020204"/>
            </a:endParaRPr>
          </a:p>
          <a:p>
            <a:pPr marL="0" marR="0" lvl="0" indent="0" algn="l" rtl="0">
              <a:lnSpc>
                <a:spcPct val="100000"/>
              </a:lnSpc>
              <a:spcBef>
                <a:spcPts val="0"/>
              </a:spcBef>
              <a:spcAft>
                <a:spcPts val="0"/>
              </a:spcAft>
              <a:buClr>
                <a:srgbClr val="000000"/>
              </a:buClr>
              <a:buSzPct val="100000"/>
              <a:buFont typeface="Arial" panose="020B0704020202020204"/>
              <a:buNone/>
            </a:pPr>
            <a:r>
              <a:rPr lang="en-GB" sz="2800" b="1" i="0" u="none" strike="noStrike" cap="none" dirty="0">
                <a:solidFill>
                  <a:srgbClr val="000000"/>
                </a:solidFill>
                <a:latin typeface="Arial" panose="020B0704020202020204"/>
                <a:ea typeface="Arial" panose="020B0704020202020204"/>
                <a:cs typeface="Arial" panose="020B0704020202020204"/>
                <a:sym typeface="Arial" panose="020B0704020202020204"/>
              </a:rPr>
              <a:t>                                                                               </a:t>
            </a:r>
            <a:endParaRPr sz="2800" b="1" i="0" u="none" strike="noStrike" cap="none" dirty="0">
              <a:solidFill>
                <a:srgbClr val="000000"/>
              </a:solidFill>
              <a:latin typeface="Arial" panose="020B0704020202020204"/>
              <a:ea typeface="Arial" panose="020B0704020202020204"/>
              <a:cs typeface="Arial" panose="020B0704020202020204"/>
              <a:sym typeface="Arial" panose="020B0704020202020204"/>
            </a:endParaRPr>
          </a:p>
          <a:p>
            <a:pPr marL="117475" marR="0" lvl="0" indent="0" algn="l" rtl="0">
              <a:lnSpc>
                <a:spcPct val="100000"/>
              </a:lnSpc>
              <a:spcBef>
                <a:spcPts val="0"/>
              </a:spcBef>
              <a:spcAft>
                <a:spcPts val="0"/>
              </a:spcAft>
              <a:buClr>
                <a:srgbClr val="000000"/>
              </a:buClr>
              <a:buSzPct val="100000"/>
              <a:buFont typeface="Arial" panose="020B0704020202020204"/>
              <a:buNone/>
            </a:pPr>
            <a:r>
              <a:rPr lang="en-US" sz="2800" b="0" i="0" u="none" strike="noStrike" cap="none" dirty="0">
                <a:solidFill>
                  <a:srgbClr val="000000"/>
                </a:solidFill>
                <a:latin typeface="Arial" panose="020B0704020202020204"/>
                <a:ea typeface="Arial" panose="020B0704020202020204"/>
                <a:cs typeface="Arial" panose="020B0704020202020204"/>
                <a:sym typeface="Arial" panose="020B0704020202020204"/>
              </a:rPr>
              <a:t>Name  :Rulson Joshi </a:t>
            </a:r>
            <a:endParaRPr lang="en-US" sz="2800" b="0" i="0" u="none" strike="noStrike" cap="none" dirty="0">
              <a:solidFill>
                <a:srgbClr val="000000"/>
              </a:solidFill>
              <a:latin typeface="Arial" panose="020B0704020202020204"/>
              <a:ea typeface="Arial" panose="020B0704020202020204"/>
              <a:cs typeface="Arial" panose="020B0704020202020204"/>
              <a:sym typeface="Arial" panose="020B0704020202020204"/>
            </a:endParaRPr>
          </a:p>
          <a:p>
            <a:pPr marL="117475" marR="0" lvl="0" indent="0" algn="l" rtl="0">
              <a:lnSpc>
                <a:spcPct val="100000"/>
              </a:lnSpc>
              <a:spcBef>
                <a:spcPts val="0"/>
              </a:spcBef>
              <a:spcAft>
                <a:spcPts val="0"/>
              </a:spcAft>
              <a:buClr>
                <a:srgbClr val="000000"/>
              </a:buClr>
              <a:buSzPct val="100000"/>
              <a:buFont typeface="Arial" panose="020B0704020202020204"/>
              <a:buNone/>
            </a:pPr>
            <a:r>
              <a:rPr lang="en-US" sz="2800" b="0" i="0" u="none" strike="noStrike" cap="none" dirty="0">
                <a:solidFill>
                  <a:srgbClr val="000000"/>
                </a:solidFill>
                <a:latin typeface="Arial" panose="020B0704020202020204"/>
                <a:ea typeface="Arial" panose="020B0704020202020204"/>
                <a:cs typeface="Arial" panose="020B0704020202020204"/>
                <a:sym typeface="Arial" panose="020B0704020202020204"/>
              </a:rPr>
              <a:t>Rollno : 24</a:t>
            </a:r>
            <a:endParaRPr lang="en-US" sz="2800" b="0" i="0" u="none" strike="noStrike" cap="none" dirty="0">
              <a:solidFill>
                <a:srgbClr val="000000"/>
              </a:solidFill>
              <a:latin typeface="Arial" panose="020B0704020202020204"/>
              <a:ea typeface="Arial" panose="020B0704020202020204"/>
              <a:cs typeface="Arial" panose="020B0704020202020204"/>
              <a:sym typeface="Arial" panose="020B0704020202020204"/>
            </a:endParaRPr>
          </a:p>
        </p:txBody>
      </p:sp>
      <p:sp>
        <p:nvSpPr>
          <p:cNvPr id="57" name="Google Shape;57;p1"/>
          <p:cNvSpPr txBox="1"/>
          <p:nvPr/>
        </p:nvSpPr>
        <p:spPr>
          <a:xfrm>
            <a:off x="2" y="4878644"/>
            <a:ext cx="9143997"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dirty="0">
                <a:solidFill>
                  <a:srgbClr val="FFFFFF"/>
                </a:solidFill>
                <a:latin typeface="Calibri"/>
                <a:ea typeface="Calibri"/>
                <a:cs typeface="Calibri"/>
                <a:sym typeface="Calibri"/>
              </a:rPr>
              <a:t>Department of ICT, Mega National College</a:t>
            </a:r>
            <a:endParaRPr sz="1600" b="1" i="0" u="none" strike="noStrike" cap="none" dirty="0">
              <a:solidFill>
                <a:srgbClr val="FFFFF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63" name="Google Shape;63;p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rtl="0">
              <a:lnSpc>
                <a:spcPct val="115000"/>
              </a:lnSpc>
              <a:spcBef>
                <a:spcPts val="0"/>
              </a:spcBef>
              <a:spcAft>
                <a:spcPts val="0"/>
              </a:spcAft>
              <a:buSzPts val="1800"/>
              <a:buAutoNum type="arabicPeriod"/>
            </a:pPr>
            <a:r>
              <a:rPr lang="en-US" altLang="en-US" dirty="0"/>
              <a:t>This project aims at serving individuals who need to send money internationally by digitizing the remittance process.</a:t>
            </a:r>
            <a:endParaRPr lang="en-US" altLang="en-US" dirty="0"/>
          </a:p>
          <a:p>
            <a:pPr marL="457200" lvl="0" indent="-342900" rtl="0">
              <a:lnSpc>
                <a:spcPct val="115000"/>
              </a:lnSpc>
              <a:spcBef>
                <a:spcPts val="0"/>
              </a:spcBef>
              <a:spcAft>
                <a:spcPts val="0"/>
              </a:spcAft>
              <a:buSzPts val="1800"/>
              <a:buAutoNum type="arabicPeriod"/>
            </a:pPr>
            <a:r>
              <a:rPr lang="en-US" altLang="en-US" dirty="0"/>
              <a:t>It mainly focuses on facilitating secure cross-border fund transfers.</a:t>
            </a:r>
            <a:endParaRPr lang="en-US" altLang="en-US" dirty="0"/>
          </a:p>
          <a:p>
            <a:pPr marL="457200" lvl="0" indent="-342900" rtl="0">
              <a:lnSpc>
                <a:spcPct val="115000"/>
              </a:lnSpc>
              <a:spcBef>
                <a:spcPts val="0"/>
              </a:spcBef>
              <a:spcAft>
                <a:spcPts val="0"/>
              </a:spcAft>
              <a:buSzPts val="1800"/>
              <a:buAutoNum type="arabicPeriod"/>
            </a:pPr>
            <a:r>
              <a:rPr lang="en-US" dirty="0">
                <a:sym typeface="+mn-ea"/>
              </a:rPr>
              <a:t>This system will make the overall billing system easy, comfortable and effective for consumers.</a:t>
            </a:r>
            <a:endParaRPr dirty="0"/>
          </a:p>
          <a:p>
            <a:pPr lvl="0">
              <a:buAutoNum type="arabicPeriod"/>
            </a:pPr>
            <a:r>
              <a:rPr lang="en-US" altLang="en-US" dirty="0"/>
              <a:t>It offers real-time currency conversion and live exchange rate updates for better transfer decisions.</a:t>
            </a:r>
            <a:endParaRPr lang="en-US" altLang="en-US" dirty="0"/>
          </a:p>
          <a:p>
            <a:pPr lvl="0">
              <a:buAutoNum type="arabicPeriod"/>
            </a:pPr>
            <a:r>
              <a:rPr lang="en-US" altLang="en-US" dirty="0"/>
              <a:t>This system will make the overall money transfer experience fast, transparent and convenient for users.</a:t>
            </a:r>
            <a:endParaRPr lang="en-US" altLang="en-US" dirty="0"/>
          </a:p>
        </p:txBody>
      </p:sp>
      <p:sp>
        <p:nvSpPr>
          <p:cNvPr id="64" name="Google Shape;64;p2"/>
          <p:cNvSpPr txBox="1"/>
          <p:nvPr/>
        </p:nvSpPr>
        <p:spPr>
          <a:xfrm>
            <a:off x="8403" y="4869599"/>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65" name="Google Shape;65;p2"/>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Introduction</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71" name="Google Shape;71;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342900" lvl="0" indent="-279400" algn="l" rtl="0">
              <a:lnSpc>
                <a:spcPct val="100000"/>
              </a:lnSpc>
              <a:spcBef>
                <a:spcPts val="0"/>
              </a:spcBef>
              <a:spcAft>
                <a:spcPts val="0"/>
              </a:spcAft>
              <a:buClr>
                <a:schemeClr val="dk2"/>
              </a:buClr>
              <a:buSzPts val="1800"/>
              <a:buFont typeface="Noto Sans Symbols"/>
              <a:buChar char="▪"/>
            </a:pPr>
            <a:r>
              <a:rPr lang="en-GB" dirty="0"/>
              <a:t>The Objective</a:t>
            </a:r>
            <a:r>
              <a:rPr lang="en-US" altLang="en-GB" dirty="0"/>
              <a:t>s</a:t>
            </a:r>
            <a:r>
              <a:rPr lang="en-GB" dirty="0"/>
              <a:t> of this project are</a:t>
            </a:r>
            <a:endParaRPr dirty="0"/>
          </a:p>
          <a:p>
            <a:pPr marL="742950" lvl="1" indent="-247650" algn="l" rtl="0">
              <a:lnSpc>
                <a:spcPct val="100000"/>
              </a:lnSpc>
              <a:spcBef>
                <a:spcPts val="1800"/>
              </a:spcBef>
              <a:spcAft>
                <a:spcPts val="0"/>
              </a:spcAft>
              <a:buClr>
                <a:schemeClr val="dk2"/>
              </a:buClr>
              <a:buSzPts val="1800"/>
              <a:buChar char="•"/>
            </a:pPr>
            <a:r>
              <a:rPr lang="en-US" altLang="en-US" dirty="0"/>
              <a:t>To automate the process of international money transfers.</a:t>
            </a:r>
            <a:endParaRPr lang="en-US" altLang="en-US" dirty="0"/>
          </a:p>
          <a:p>
            <a:pPr marL="742950" lvl="1" indent="-247650" algn="l" rtl="0">
              <a:lnSpc>
                <a:spcPct val="100000"/>
              </a:lnSpc>
              <a:spcBef>
                <a:spcPts val="1800"/>
              </a:spcBef>
              <a:spcAft>
                <a:spcPts val="0"/>
              </a:spcAft>
              <a:buClr>
                <a:schemeClr val="dk2"/>
              </a:buClr>
              <a:buSzPts val="1800"/>
              <a:buChar char="•"/>
            </a:pPr>
            <a:r>
              <a:rPr lang="en-US" altLang="en-US" dirty="0"/>
              <a:t>To maintain accurate records of beneficiaries and their bank details for seamless transactions.</a:t>
            </a:r>
            <a:endParaRPr lang="en-US" altLang="en-US" dirty="0"/>
          </a:p>
          <a:p>
            <a:pPr marL="742950" lvl="1" indent="-247650" algn="l" rtl="0">
              <a:lnSpc>
                <a:spcPct val="100000"/>
              </a:lnSpc>
              <a:spcBef>
                <a:spcPts val="1800"/>
              </a:spcBef>
              <a:spcAft>
                <a:spcPts val="0"/>
              </a:spcAft>
              <a:buClr>
                <a:schemeClr val="dk2"/>
              </a:buClr>
              <a:buSzPts val="1800"/>
              <a:buChar char="•"/>
            </a:pPr>
            <a:r>
              <a:rPr lang="en-US" altLang="en-US" dirty="0"/>
              <a:t>To reduce manual errors and improve the accuracy of fund transfers.</a:t>
            </a:r>
            <a:endParaRPr lang="en-US" altLang="en-US" dirty="0"/>
          </a:p>
          <a:p>
            <a:pPr marL="742950" lvl="1" indent="-247650" algn="l" rtl="0">
              <a:lnSpc>
                <a:spcPct val="100000"/>
              </a:lnSpc>
              <a:spcBef>
                <a:spcPts val="1800"/>
              </a:spcBef>
              <a:spcAft>
                <a:spcPts val="0"/>
              </a:spcAft>
              <a:buClr>
                <a:schemeClr val="dk2"/>
              </a:buClr>
              <a:buSzPts val="1800"/>
              <a:buChar char="•"/>
            </a:pPr>
            <a:r>
              <a:rPr lang="en-US" altLang="en-US" dirty="0"/>
              <a:t>To make cross-border remittance management faster, simpler and more organized.</a:t>
            </a:r>
            <a:endParaRPr lang="en-US" altLang="en-US" dirty="0"/>
          </a:p>
          <a:p>
            <a:pPr marL="0" lvl="0" indent="0" algn="l" rtl="0">
              <a:lnSpc>
                <a:spcPct val="115000"/>
              </a:lnSpc>
              <a:spcBef>
                <a:spcPts val="0"/>
              </a:spcBef>
              <a:spcAft>
                <a:spcPts val="1200"/>
              </a:spcAft>
              <a:buSzPts val="1800"/>
              <a:buNone/>
            </a:pPr>
            <a:endParaRPr dirty="0"/>
          </a:p>
        </p:txBody>
      </p:sp>
      <p:sp>
        <p:nvSpPr>
          <p:cNvPr id="72" name="Google Shape;72;p4"/>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73" name="Google Shape;73;p4"/>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Objectives</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g3dd3e3ad7c5_0_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79" name="Google Shape;79;g3dd3e3ad7c5_0_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342900" lvl="0" indent="-279400" algn="l" rtl="0">
              <a:lnSpc>
                <a:spcPct val="100000"/>
              </a:lnSpc>
              <a:spcBef>
                <a:spcPts val="0"/>
              </a:spcBef>
              <a:spcAft>
                <a:spcPts val="0"/>
              </a:spcAft>
              <a:buClr>
                <a:schemeClr val="dk2"/>
              </a:buClr>
              <a:buSzPts val="1800"/>
              <a:buFont typeface="Noto Sans Symbols"/>
              <a:buChar char="▪"/>
            </a:pPr>
            <a:r>
              <a:rPr lang="en-GB" dirty="0"/>
              <a:t>The Scope of the project is :</a:t>
            </a:r>
            <a:endParaRPr dirty="0"/>
          </a:p>
          <a:p>
            <a:r>
              <a:rPr lang="en-US" altLang="en-US" dirty="0"/>
              <a:t>It provides a secure platform for real-time currency conversion and exchange rate tracking.</a:t>
            </a:r>
            <a:endParaRPr lang="en-US" altLang="en-US" dirty="0"/>
          </a:p>
          <a:p>
            <a:r>
              <a:rPr lang="en-US" altLang="en-US" dirty="0"/>
              <a:t>The application supports multiple recipients, allowing users to manage several beneficiaries for recurring transfers.</a:t>
            </a:r>
            <a:endParaRPr lang="en-US" altLang="en-US" dirty="0"/>
          </a:p>
          <a:p>
            <a:r>
              <a:rPr lang="en-US" altLang="en-US" dirty="0"/>
              <a:t>The project can be used by individuals and businesses for managing international money transfers between Australia and Nepal.</a:t>
            </a:r>
            <a:endParaRPr lang="en-US" altLang="en-US" dirty="0"/>
          </a:p>
          <a:p>
            <a:pPr marL="0" lvl="0" indent="0" algn="l" rtl="0">
              <a:lnSpc>
                <a:spcPct val="115000"/>
              </a:lnSpc>
              <a:spcBef>
                <a:spcPts val="0"/>
              </a:spcBef>
              <a:spcAft>
                <a:spcPts val="1200"/>
              </a:spcAft>
              <a:buSzPts val="1800"/>
              <a:buNone/>
            </a:pPr>
            <a:endParaRPr dirty="0"/>
          </a:p>
        </p:txBody>
      </p:sp>
      <p:sp>
        <p:nvSpPr>
          <p:cNvPr id="80" name="Google Shape;80;g3dd3e3ad7c5_0_0"/>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81" name="Google Shape;81;g3dd3e3ad7c5_0_0"/>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a:solidFill>
                  <a:schemeClr val="lt1"/>
                </a:solidFill>
                <a:latin typeface="Calibri"/>
                <a:ea typeface="Calibri"/>
                <a:cs typeface="Calibri"/>
                <a:sym typeface="Calibri"/>
              </a:rPr>
              <a:t>Scope of Project</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g3dd3e3ad7c5_0_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87" name="Google Shape;87;g3dd3e3ad7c5_0_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342900" lvl="0" indent="-279400" algn="l" rtl="0">
              <a:lnSpc>
                <a:spcPct val="100000"/>
              </a:lnSpc>
              <a:spcBef>
                <a:spcPts val="0"/>
              </a:spcBef>
              <a:spcAft>
                <a:spcPts val="0"/>
              </a:spcAft>
              <a:buClr>
                <a:schemeClr val="dk2"/>
              </a:buClr>
              <a:buSzPts val="1800"/>
              <a:buFont typeface="Noto Sans Symbols"/>
              <a:buChar char="▪"/>
            </a:pPr>
            <a:r>
              <a:rPr lang="en-US" altLang="en-US" dirty="0"/>
              <a:t>Frontend (Mobile App): Flutter (Dart) </a:t>
            </a:r>
            <a:endParaRPr lang="en-US" altLang="en-US" dirty="0"/>
          </a:p>
          <a:p>
            <a:pPr marL="342900" lvl="0" indent="-279400" algn="l" rtl="0">
              <a:lnSpc>
                <a:spcPct val="100000"/>
              </a:lnSpc>
              <a:spcBef>
                <a:spcPts val="0"/>
              </a:spcBef>
              <a:spcAft>
                <a:spcPts val="0"/>
              </a:spcAft>
              <a:buClr>
                <a:schemeClr val="dk2"/>
              </a:buClr>
              <a:buSzPts val="1800"/>
              <a:buFont typeface="Noto Sans Symbols"/>
              <a:buChar char="▪"/>
            </a:pPr>
            <a:r>
              <a:rPr lang="en-US" altLang="en-US" dirty="0"/>
              <a:t>Backend : PHP </a:t>
            </a:r>
            <a:endParaRPr lang="en-US" altLang="en-US" dirty="0"/>
          </a:p>
          <a:p>
            <a:pPr marL="342900" lvl="0" indent="-279400" algn="l" rtl="0">
              <a:lnSpc>
                <a:spcPct val="100000"/>
              </a:lnSpc>
              <a:spcBef>
                <a:spcPts val="0"/>
              </a:spcBef>
              <a:spcAft>
                <a:spcPts val="0"/>
              </a:spcAft>
              <a:buClr>
                <a:schemeClr val="dk2"/>
              </a:buClr>
              <a:buSzPts val="1800"/>
              <a:buFont typeface="Noto Sans Symbols"/>
              <a:buChar char="▪"/>
            </a:pPr>
            <a:r>
              <a:rPr lang="en-US" altLang="en-US" dirty="0"/>
              <a:t>Database: MySQL </a:t>
            </a:r>
            <a:endParaRPr lang="en-US" altLang="en-US" dirty="0"/>
          </a:p>
          <a:p>
            <a:pPr marL="342900" lvl="0" indent="-279400" algn="l" rtl="0">
              <a:lnSpc>
                <a:spcPct val="100000"/>
              </a:lnSpc>
              <a:spcBef>
                <a:spcPts val="0"/>
              </a:spcBef>
              <a:spcAft>
                <a:spcPts val="0"/>
              </a:spcAft>
              <a:buClr>
                <a:schemeClr val="dk2"/>
              </a:buClr>
              <a:buSzPts val="1800"/>
              <a:buFont typeface="Noto Sans Symbols"/>
              <a:buChar char="▪"/>
            </a:pPr>
            <a:r>
              <a:rPr lang="en-US" altLang="en-US" dirty="0"/>
              <a:t>Development Environment: Visual Studio Code, Android Studio, X-Code</a:t>
            </a:r>
            <a:endParaRPr lang="en-US" altLang="en-US" dirty="0"/>
          </a:p>
        </p:txBody>
      </p:sp>
      <p:sp>
        <p:nvSpPr>
          <p:cNvPr id="88" name="Google Shape;88;g3dd3e3ad7c5_0_7"/>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89" name="Google Shape;89;g3dd3e3ad7c5_0_7"/>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a:solidFill>
                  <a:schemeClr val="lt1"/>
                </a:solidFill>
                <a:latin typeface="Calibri"/>
                <a:ea typeface="Calibri"/>
                <a:cs typeface="Calibri"/>
                <a:sym typeface="Calibri"/>
              </a:rPr>
              <a:t>Tools Used</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95" name="Google Shape;95;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742950" indent="-285750">
              <a:spcBef>
                <a:spcPts val="1200"/>
              </a:spcBef>
              <a:spcAft>
                <a:spcPts val="1200"/>
              </a:spcAft>
            </a:pPr>
            <a:r>
              <a:rPr lang="en-US" altLang="en-US" dirty="0"/>
              <a:t>Work is done in small sprints </a:t>
            </a:r>
            <a:endParaRPr lang="en-US" altLang="en-US" dirty="0"/>
          </a:p>
          <a:p>
            <a:pPr marL="742950" indent="-285750">
              <a:spcBef>
                <a:spcPts val="1200"/>
              </a:spcBef>
              <a:spcAft>
                <a:spcPts val="1200"/>
              </a:spcAft>
            </a:pPr>
            <a:r>
              <a:rPr lang="en-US" altLang="en-US" dirty="0"/>
              <a:t>First, basic features like user registration, login and PIN setup are developed and tested.</a:t>
            </a:r>
            <a:endParaRPr lang="en-US" altLang="en-US" dirty="0"/>
          </a:p>
          <a:p>
            <a:pPr marL="742950" indent="-285750">
              <a:spcBef>
                <a:spcPts val="1200"/>
              </a:spcBef>
              <a:spcAft>
                <a:spcPts val="1200"/>
              </a:spcAft>
            </a:pPr>
            <a:r>
              <a:rPr lang="en-US" altLang="en-US" dirty="0"/>
              <a:t>In the next sprints, features like recipient management, currency conversion and money transfer are added gradually.</a:t>
            </a:r>
            <a:endParaRPr lang="en-US" altLang="en-US" dirty="0"/>
          </a:p>
          <a:p>
            <a:pPr marL="742950" indent="-285750">
              <a:spcBef>
                <a:spcPts val="1200"/>
              </a:spcBef>
              <a:spcAft>
                <a:spcPts val="1200"/>
              </a:spcAft>
            </a:pPr>
            <a:r>
              <a:rPr lang="en-US" dirty="0"/>
              <a:t>Each increment is tested and improved before adding the next feature.</a:t>
            </a:r>
            <a:endParaRPr lang="en-US" dirty="0"/>
          </a:p>
          <a:p>
            <a:pPr indent="0">
              <a:spcBef>
                <a:spcPts val="1200"/>
              </a:spcBef>
              <a:spcAft>
                <a:spcPts val="1200"/>
              </a:spcAft>
              <a:buNone/>
            </a:pPr>
            <a:endParaRPr dirty="0"/>
          </a:p>
        </p:txBody>
      </p:sp>
      <p:sp>
        <p:nvSpPr>
          <p:cNvPr id="96" name="Google Shape;96;p5"/>
          <p:cNvSpPr txBox="1"/>
          <p:nvPr/>
        </p:nvSpPr>
        <p:spPr>
          <a:xfrm>
            <a:off x="-13200" y="4869600"/>
            <a:ext cx="91440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97" name="Google Shape;97;p5"/>
          <p:cNvSpPr txBox="1"/>
          <p:nvPr/>
        </p:nvSpPr>
        <p:spPr>
          <a:xfrm>
            <a:off x="-13335"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dirty="0">
                <a:solidFill>
                  <a:schemeClr val="lt1"/>
                </a:solidFill>
                <a:latin typeface="Calibri"/>
                <a:ea typeface="Calibri"/>
                <a:cs typeface="Calibri"/>
                <a:sym typeface="Calibri"/>
              </a:rPr>
              <a:t>Methodology(</a:t>
            </a:r>
            <a:r>
              <a:rPr lang="en-US" altLang="en-US" sz="4400" b="0" i="0" u="none" strike="noStrike" cap="none" dirty="0">
                <a:solidFill>
                  <a:schemeClr val="lt1"/>
                </a:solidFill>
                <a:latin typeface="Calibri"/>
                <a:ea typeface="Calibri"/>
                <a:cs typeface="Calibri"/>
                <a:sym typeface="Calibri"/>
              </a:rPr>
              <a:t>Agile Model </a:t>
            </a:r>
            <a:r>
              <a:rPr lang="en-GB" sz="4400" b="0" i="0" u="none" strike="noStrike" cap="none" dirty="0">
                <a:solidFill>
                  <a:schemeClr val="lt1"/>
                </a:solidFill>
                <a:latin typeface="Calibri"/>
                <a:ea typeface="Calibri"/>
                <a:cs typeface="Calibri"/>
                <a:sym typeface="Calibri"/>
              </a:rPr>
              <a:t>)</a:t>
            </a:r>
            <a:endParaRPr sz="4400" b="0" i="0" u="none" strike="noStrike" cap="none" dirty="0">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103" name="Google Shape;103;p6"/>
          <p:cNvSpPr txBox="1">
            <a:spLocks noGrp="1"/>
          </p:cNvSpPr>
          <p:nvPr>
            <p:ph type="body" idx="1"/>
          </p:nvPr>
        </p:nvSpPr>
        <p:spPr>
          <a:xfrm>
            <a:off x="958765" y="1152475"/>
            <a:ext cx="85206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p>
          <a:p>
            <a:pPr marL="457200" lvl="0" indent="0" algn="l" rtl="0">
              <a:lnSpc>
                <a:spcPct val="115000"/>
              </a:lnSpc>
              <a:spcBef>
                <a:spcPts val="1200"/>
              </a:spcBef>
              <a:spcAft>
                <a:spcPts val="1200"/>
              </a:spcAft>
              <a:buSzPts val="1800"/>
              <a:buNone/>
            </a:pPr>
          </a:p>
        </p:txBody>
      </p:sp>
      <p:sp>
        <p:nvSpPr>
          <p:cNvPr id="104" name="Google Shape;104;p6"/>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05" name="Google Shape;105;p6"/>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Methodology</a:t>
            </a:r>
            <a:r>
              <a:rPr lang="en-US" altLang="en-GB" sz="4400" b="0" i="0" u="none" strike="noStrike" cap="none">
                <a:solidFill>
                  <a:schemeClr val="lt1"/>
                </a:solidFill>
                <a:latin typeface="Calibri"/>
                <a:ea typeface="Calibri"/>
                <a:cs typeface="Calibri"/>
                <a:sym typeface="Calibri"/>
              </a:rPr>
              <a:t>(Flow Chart)</a:t>
            </a:r>
            <a:endParaRPr lang="en-US" altLang="en-GB" sz="4400" b="0" i="0" u="none" strike="noStrike" cap="none">
              <a:solidFill>
                <a:schemeClr val="lt1"/>
              </a:solidFill>
              <a:latin typeface="Calibri"/>
              <a:ea typeface="Calibri"/>
              <a:cs typeface="Calibri"/>
              <a:sym typeface="Calibri"/>
            </a:endParaRPr>
          </a:p>
        </p:txBody>
      </p:sp>
      <p:pic>
        <p:nvPicPr>
          <p:cNvPr id="5" name="Picture 4" descr="CleanShot 2026-06-19 at 12 .57.42"/>
          <p:cNvPicPr>
            <a:picLocks noChangeAspect="1"/>
          </p:cNvPicPr>
          <p:nvPr/>
        </p:nvPicPr>
        <p:blipFill>
          <a:blip r:embed="rId1"/>
          <a:stretch>
            <a:fillRect/>
          </a:stretch>
        </p:blipFill>
        <p:spPr>
          <a:xfrm>
            <a:off x="3546475" y="1017905"/>
            <a:ext cx="2437765" cy="37922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103" name="Google Shape;103;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114300" lvl="0" indent="0" algn="l" rtl="0">
              <a:lnSpc>
                <a:spcPct val="115000"/>
              </a:lnSpc>
              <a:spcBef>
                <a:spcPts val="0"/>
              </a:spcBef>
              <a:spcAft>
                <a:spcPts val="0"/>
              </a:spcAft>
              <a:buSzPts val="1800"/>
              <a:buNone/>
            </a:pPr>
          </a:p>
          <a:p>
            <a:pPr marL="457200" lvl="0" indent="0" algn="l" rtl="0">
              <a:lnSpc>
                <a:spcPct val="115000"/>
              </a:lnSpc>
              <a:spcBef>
                <a:spcPts val="1200"/>
              </a:spcBef>
              <a:spcAft>
                <a:spcPts val="1200"/>
              </a:spcAft>
              <a:buSzPts val="1800"/>
              <a:buNone/>
            </a:pPr>
          </a:p>
        </p:txBody>
      </p:sp>
      <p:sp>
        <p:nvSpPr>
          <p:cNvPr id="104" name="Google Shape;104;p6"/>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05" name="Google Shape;105;p6"/>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Methodology</a:t>
            </a:r>
            <a:r>
              <a:rPr lang="en-US" altLang="en-GB" sz="4400" b="0" i="0" u="none" strike="noStrike" cap="none">
                <a:solidFill>
                  <a:schemeClr val="lt1"/>
                </a:solidFill>
                <a:latin typeface="Calibri"/>
                <a:ea typeface="Calibri"/>
                <a:cs typeface="Calibri"/>
                <a:sym typeface="Calibri"/>
              </a:rPr>
              <a:t>(Use Case)</a:t>
            </a:r>
            <a:endParaRPr lang="en-US" altLang="en-GB" sz="4400" b="0" i="0" u="none" strike="noStrike" cap="none">
              <a:solidFill>
                <a:schemeClr val="lt1"/>
              </a:solidFill>
              <a:latin typeface="Calibri"/>
              <a:ea typeface="Calibri"/>
              <a:cs typeface="Calibri"/>
              <a:sym typeface="Calibri"/>
            </a:endParaRPr>
          </a:p>
        </p:txBody>
      </p:sp>
      <p:pic>
        <p:nvPicPr>
          <p:cNvPr id="4" name="Picture 3" descr="CleanShot 2026-06-19 at 8 .11.49@2x"/>
          <p:cNvPicPr>
            <a:picLocks noChangeAspect="1"/>
          </p:cNvPicPr>
          <p:nvPr/>
        </p:nvPicPr>
        <p:blipFill>
          <a:blip r:embed="rId1"/>
          <a:stretch>
            <a:fillRect/>
          </a:stretch>
        </p:blipFill>
        <p:spPr>
          <a:xfrm>
            <a:off x="3343275" y="1099820"/>
            <a:ext cx="2637155" cy="35223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119" name="Google Shape;119;p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AutoNum type="arabicPeriod"/>
            </a:pPr>
            <a:r>
              <a:rPr lang="en-GB" dirty="0"/>
              <a:t>Gantt Chart of the project</a:t>
            </a:r>
            <a:endParaRPr lang="en-GB" dirty="0"/>
          </a:p>
          <a:p>
            <a:pPr marL="114300" lvl="0" indent="0" algn="l" rtl="0">
              <a:lnSpc>
                <a:spcPct val="115000"/>
              </a:lnSpc>
              <a:spcBef>
                <a:spcPts val="0"/>
              </a:spcBef>
              <a:spcAft>
                <a:spcPts val="0"/>
              </a:spcAft>
              <a:buSzPts val="1800"/>
              <a:buNone/>
            </a:pPr>
            <a:r>
              <a:rPr lang="en-GB" dirty="0"/>
              <a:t> </a:t>
            </a:r>
            <a:endParaRPr dirty="0"/>
          </a:p>
        </p:txBody>
      </p:sp>
      <p:sp>
        <p:nvSpPr>
          <p:cNvPr id="120" name="Google Shape;120;p8"/>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21" name="Google Shape;121;p8"/>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Project Timeline</a:t>
            </a:r>
            <a:endParaRPr sz="4400" b="0" i="0" u="none" strike="noStrike" cap="none">
              <a:solidFill>
                <a:schemeClr val="lt1"/>
              </a:solidFill>
              <a:latin typeface="Calibri"/>
              <a:ea typeface="Calibri"/>
              <a:cs typeface="Calibri"/>
              <a:sym typeface="Calibri"/>
            </a:endParaRPr>
          </a:p>
        </p:txBody>
      </p:sp>
      <p:pic>
        <p:nvPicPr>
          <p:cNvPr id="3" name="Picture 2" descr="CleanShot 2026-06-19 at 12 .50.49@2x"/>
          <p:cNvPicPr>
            <a:picLocks noChangeAspect="1"/>
          </p:cNvPicPr>
          <p:nvPr/>
        </p:nvPicPr>
        <p:blipFill>
          <a:blip r:embed="rId1"/>
          <a:stretch>
            <a:fillRect/>
          </a:stretch>
        </p:blipFill>
        <p:spPr>
          <a:xfrm>
            <a:off x="1460500" y="1638935"/>
            <a:ext cx="5655945" cy="3022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128" name="Google Shape;128;p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spcAft>
                <a:spcPts val="1200"/>
              </a:spcAft>
              <a:buNone/>
            </a:pPr>
            <a:r>
              <a:rPr lang="en-US" altLang="en-US" dirty="0"/>
              <a:t>The expected outcome of this project is the development of a secure, cross-platform mobile application for managing international money transfers. Users can register, verify their accounts, manage beneficiaries and initiate transfers through a simple 4-step process. The system provides real-time currency conversion, live exchange rates and transparent fee calculations. Users can track their transaction history and view detailed receipts in real time. The project demonstrates the practical application of software development, API integration, database management and testing skills acquired during the BCA program.</a:t>
            </a:r>
            <a:endParaRPr lang="en-US" altLang="en-US" dirty="0"/>
          </a:p>
        </p:txBody>
      </p:sp>
      <p:sp>
        <p:nvSpPr>
          <p:cNvPr id="129" name="Google Shape;129;p9"/>
          <p:cNvSpPr txBox="1"/>
          <p:nvPr/>
        </p:nvSpPr>
        <p:spPr>
          <a:xfrm>
            <a:off x="3" y="4841474"/>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30" name="Google Shape;130;p9"/>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a:solidFill>
                  <a:schemeClr val="lt1"/>
                </a:solidFill>
                <a:latin typeface="Calibri"/>
                <a:ea typeface="Calibri"/>
                <a:cs typeface="Calibri"/>
                <a:sym typeface="Calibri"/>
              </a:rPr>
              <a:t>Expected Outcome</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000"/>
              <a:buNone/>
            </a:pPr>
          </a:p>
        </p:txBody>
      </p:sp>
      <p:sp>
        <p:nvSpPr>
          <p:cNvPr id="136" name="Google Shape;136;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0" algn="l" rtl="0">
              <a:lnSpc>
                <a:spcPct val="115000"/>
              </a:lnSpc>
              <a:spcBef>
                <a:spcPts val="0"/>
              </a:spcBef>
              <a:spcAft>
                <a:spcPts val="0"/>
              </a:spcAft>
              <a:buNone/>
            </a:pPr>
            <a:r>
              <a:rPr lang="en-US" altLang="en-US"/>
              <a:t>1 Elmasri, R., &amp; Navathe, S. B. (2016). Fundamentals of Database Systems (7th ed.). Pearson.</a:t>
            </a:r>
            <a:endParaRPr lang="en-US" altLang="en-US"/>
          </a:p>
          <a:p>
            <a:pPr marL="457200" lvl="0" indent="0" algn="l" rtl="0">
              <a:lnSpc>
                <a:spcPct val="115000"/>
              </a:lnSpc>
              <a:spcBef>
                <a:spcPts val="0"/>
              </a:spcBef>
              <a:spcAft>
                <a:spcPts val="0"/>
              </a:spcAft>
              <a:buNone/>
            </a:pPr>
            <a:r>
              <a:rPr lang="en-US" altLang="en-US"/>
              <a:t>2 Fioravanti, M. (2020). Flutter Complete Reference: Learn Dart, Widgets, App Development and Publish to Stores. Leanpub</a:t>
            </a:r>
            <a:endParaRPr lang="en-US" altLang="en-US"/>
          </a:p>
          <a:p>
            <a:pPr marL="457200" lvl="0" indent="0" algn="l" rtl="0">
              <a:lnSpc>
                <a:spcPct val="115000"/>
              </a:lnSpc>
              <a:spcBef>
                <a:spcPts val="0"/>
              </a:spcBef>
              <a:spcAft>
                <a:spcPts val="0"/>
              </a:spcAft>
              <a:buNone/>
            </a:pPr>
            <a:endParaRPr lang="en-US" altLang="en-US"/>
          </a:p>
        </p:txBody>
      </p:sp>
      <p:sp>
        <p:nvSpPr>
          <p:cNvPr id="137" name="Google Shape;137;p10"/>
          <p:cNvSpPr txBox="1"/>
          <p:nvPr/>
        </p:nvSpPr>
        <p:spPr>
          <a:xfrm>
            <a:off x="8403" y="4869599"/>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38" name="Google Shape;138;p10"/>
          <p:cNvSpPr txBox="1"/>
          <p:nvPr/>
        </p:nvSpPr>
        <p:spPr>
          <a:xfrm>
            <a:off x="0" y="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References</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1"/>
          <p:cNvSpPr txBox="1"/>
          <p:nvPr/>
        </p:nvSpPr>
        <p:spPr>
          <a:xfrm>
            <a:off x="8403" y="4869599"/>
            <a:ext cx="9127200" cy="273900"/>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panose="020B0704020202020204"/>
              <a:buNone/>
            </a:pPr>
            <a:r>
              <a:rPr lang="en-GB" sz="1600" b="1" i="0" u="none" strike="noStrike" cap="none">
                <a:solidFill>
                  <a:srgbClr val="FFFFFF"/>
                </a:solidFill>
                <a:latin typeface="Calibri"/>
                <a:ea typeface="Calibri"/>
                <a:cs typeface="Calibri"/>
                <a:sym typeface="Calibri"/>
              </a:rPr>
              <a:t>Department of Computer Application, Mega National College</a:t>
            </a:r>
            <a:endParaRPr sz="1600" b="1" i="0" u="none" strike="noStrike" cap="none">
              <a:solidFill>
                <a:srgbClr val="FFFFFF"/>
              </a:solidFill>
              <a:latin typeface="Calibri"/>
              <a:ea typeface="Calibri"/>
              <a:cs typeface="Calibri"/>
              <a:sym typeface="Calibri"/>
            </a:endParaRPr>
          </a:p>
        </p:txBody>
      </p:sp>
      <p:sp>
        <p:nvSpPr>
          <p:cNvPr id="144" name="Google Shape;144;p11"/>
          <p:cNvSpPr txBox="1"/>
          <p:nvPr/>
        </p:nvSpPr>
        <p:spPr>
          <a:xfrm>
            <a:off x="-42850" y="1920250"/>
            <a:ext cx="9144000" cy="1028700"/>
          </a:xfrm>
          <a:prstGeom prst="rect">
            <a:avLst/>
          </a:prstGeom>
          <a:solidFill>
            <a:srgbClr val="1F497D"/>
          </a:solid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4400"/>
              <a:buFont typeface="Arial" panose="020B0704020202020204"/>
              <a:buNone/>
            </a:pPr>
            <a:r>
              <a:rPr lang="en-GB" sz="4400" b="0" i="0" u="none" strike="noStrike" cap="none">
                <a:solidFill>
                  <a:schemeClr val="lt1"/>
                </a:solidFill>
                <a:latin typeface="Calibri"/>
                <a:ea typeface="Calibri"/>
                <a:cs typeface="Calibri"/>
                <a:sym typeface="Calibri"/>
              </a:rPr>
              <a:t>Thankyou</a:t>
            </a:r>
            <a:endParaRPr sz="4400" b="0" i="0" u="none" strike="noStrike" cap="none">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3467</Words>
  <Application>WPS Presentation</Application>
  <PresentationFormat>On-screen Show (16:9)</PresentationFormat>
  <Paragraphs>96</Paragraphs>
  <Slides>12</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Arial</vt:lpstr>
      <vt:lpstr>Calibri</vt:lpstr>
      <vt:lpstr>Helvetica Neue</vt:lpstr>
      <vt:lpstr>Noto Sans Symbols</vt:lpstr>
      <vt:lpstr>Thonburi</vt:lpstr>
      <vt:lpstr>Microsoft YaHei</vt:lpstr>
      <vt:lpstr>汉仪旗黑</vt:lpstr>
      <vt:lpstr>Arial Unicode MS</vt:lpstr>
      <vt:lpstr>宋体-简</vt:lpstr>
      <vt:lpstr>Simple Light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rused</cp:lastModifiedBy>
  <cp:revision>13</cp:revision>
  <dcterms:created xsi:type="dcterms:W3CDTF">2026-06-19T15:29:35Z</dcterms:created>
  <dcterms:modified xsi:type="dcterms:W3CDTF">2026-06-19T15:29:35Z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1033-12.1.26015.26015</vt:lpwstr>
  </property>
  <property fmtid="{D5CDD505-2E9C-101B-9397-08002B2CF9AE}" pid="3" name="ICV">
    <vt:lpwstr>7416140365D115605F60356ACDBD7437_42</vt:lpwstr>
  </property>
</Properties>
</file>